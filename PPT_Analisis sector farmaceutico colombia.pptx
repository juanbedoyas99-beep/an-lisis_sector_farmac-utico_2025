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17" r:id="rId4"/>
    <p:sldId id="318" r:id="rId5"/>
    <p:sldId id="319" r:id="rId6"/>
    <p:sldId id="324" r:id="rId7"/>
    <p:sldId id="320" r:id="rId8"/>
    <p:sldId id="321" r:id="rId9"/>
    <p:sldId id="323" r:id="rId10"/>
    <p:sldId id="322" r:id="rId11"/>
    <p:sldId id="325" r:id="rId12"/>
  </p:sldIdLst>
  <p:sldSz cx="12192000" cy="6858000"/>
  <p:notesSz cx="6858000" cy="9144000"/>
  <p:custDataLst>
    <p:tags r:id="rId13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EF1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jpeg"/><Relationship Id="rId7" Type="http://schemas.openxmlformats.org/officeDocument/2006/relationships/hyperlink" Target="https://www.aztecaciudadjuarez.com/noticias/medicamentos-prohibidos-por-cofepris-hoy-en-mexico-lista-actualizada-y-riesgos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jpeg"/><Relationship Id="rId5" Type="http://schemas.openxmlformats.org/officeDocument/2006/relationships/hyperlink" Target="https://normograma.invima.gov.co/normograma/compilacion/docs/concepto_invima_2031261_2018.htm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rubenluengas.com/2020/03/el-negocio-de-las-farmaceuticas-un-billon-de-dolares-en-2022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5.jpeg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.jpeg"/><Relationship Id="rId11" Type="http://schemas.openxmlformats.org/officeDocument/2006/relationships/hyperlink" Target="https://www.piqsels.com/es/search?q=dinero" TargetMode="External"/><Relationship Id="rId5" Type="http://schemas.openxmlformats.org/officeDocument/2006/relationships/image" Target="../media/image10.jpeg"/><Relationship Id="rId10" Type="http://schemas.openxmlformats.org/officeDocument/2006/relationships/image" Target="../media/image14.jpeg"/><Relationship Id="rId4" Type="http://schemas.openxmlformats.org/officeDocument/2006/relationships/image" Target="../media/image9.jpeg"/><Relationship Id="rId9" Type="http://schemas.openxmlformats.org/officeDocument/2006/relationships/hyperlink" Target="https://pixabay.com/es/signo-de-interrogaci%C3%B3n-pregunta-1019983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30682" y="3670316"/>
            <a:ext cx="3308470" cy="26725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s-ES" b="1" dirty="0">
                <a:solidFill>
                  <a:schemeClr val="bg1"/>
                </a:solidFill>
                <a:ea typeface="Roboto Black" panose="02000000000000000000" pitchFamily="2" charset="0"/>
                <a:cs typeface="Arial" panose="020B0604020202020204" pitchFamily="34" charset="0"/>
              </a:rPr>
              <a:t>Integrantes:</a:t>
            </a:r>
          </a:p>
          <a:p>
            <a:r>
              <a:rPr lang="es-CO" dirty="0">
                <a:solidFill>
                  <a:schemeClr val="bg1"/>
                </a:solidFill>
              </a:rPr>
              <a:t>Johnatan Blandón Morales</a:t>
            </a:r>
          </a:p>
          <a:p>
            <a:r>
              <a:rPr lang="es-CO" dirty="0">
                <a:solidFill>
                  <a:schemeClr val="bg1"/>
                </a:solidFill>
              </a:rPr>
              <a:t>Juan Pablo Bedoya</a:t>
            </a:r>
          </a:p>
          <a:p>
            <a:r>
              <a:rPr lang="es-CO" dirty="0">
                <a:solidFill>
                  <a:schemeClr val="bg1"/>
                </a:solidFill>
              </a:rPr>
              <a:t>Daniela Mejía Monsalve</a:t>
            </a:r>
          </a:p>
          <a:p>
            <a:r>
              <a:rPr lang="es-CO" dirty="0">
                <a:solidFill>
                  <a:schemeClr val="bg1"/>
                </a:solidFill>
              </a:rPr>
              <a:t>Silvana Taborda </a:t>
            </a:r>
            <a:r>
              <a:rPr lang="es-CO" dirty="0" err="1">
                <a:solidFill>
                  <a:schemeClr val="bg1"/>
                </a:solidFill>
              </a:rPr>
              <a:t>Lalinde</a:t>
            </a:r>
            <a:endParaRPr lang="es-CO" dirty="0">
              <a:solidFill>
                <a:schemeClr val="bg1"/>
              </a:solidFill>
            </a:endParaRPr>
          </a:p>
          <a:p>
            <a:r>
              <a:rPr lang="es-CO" dirty="0">
                <a:solidFill>
                  <a:schemeClr val="bg1"/>
                </a:solidFill>
              </a:rPr>
              <a:t>Juliana Valeria Calderón Jaramillo</a:t>
            </a:r>
          </a:p>
          <a:p>
            <a:br>
              <a:rPr lang="es-CO" dirty="0"/>
            </a:br>
            <a:endParaRPr lang="en-US" b="1" dirty="0">
              <a:solidFill>
                <a:schemeClr val="bg1"/>
              </a:solidFill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5" y="1853701"/>
            <a:ext cx="3072076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solidFill>
                  <a:schemeClr val="bg1"/>
                </a:solidFill>
              </a:rPr>
              <a:t>ANÁLISIS INTEGRAL DEL SECTOR FARMACÉUTICO EN COLOMBIA</a:t>
            </a:r>
          </a:p>
          <a:p>
            <a:pPr algn="just"/>
            <a:endParaRPr lang="es-MX" b="1" dirty="0">
              <a:solidFill>
                <a:schemeClr val="bg1"/>
              </a:solidFill>
            </a:endParaRPr>
          </a:p>
          <a:p>
            <a:pPr algn="just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Equipo: Data </a:t>
            </a:r>
            <a:r>
              <a:rPr lang="es-MX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Surfers</a:t>
            </a:r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Pro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0B8473-7FD0-0082-4573-E0AD896FAD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9152" y="1655185"/>
            <a:ext cx="1845487" cy="1845487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CB02B3E-CA97-4862-D109-DC7622B7334E}"/>
              </a:ext>
            </a:extLst>
          </p:cNvPr>
          <p:cNvSpPr txBox="1"/>
          <p:nvPr/>
        </p:nvSpPr>
        <p:spPr>
          <a:xfrm>
            <a:off x="762442" y="81683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Introducción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B495274-9A99-9BEE-881A-E2B876DA6135}"/>
              </a:ext>
            </a:extLst>
          </p:cNvPr>
          <p:cNvSpPr/>
          <p:nvPr/>
        </p:nvSpPr>
        <p:spPr>
          <a:xfrm>
            <a:off x="1649507" y="1896035"/>
            <a:ext cx="2796988" cy="30659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62A7627-73F2-CEA2-2F9E-0465C0174B18}"/>
              </a:ext>
            </a:extLst>
          </p:cNvPr>
          <p:cNvSpPr/>
          <p:nvPr/>
        </p:nvSpPr>
        <p:spPr>
          <a:xfrm>
            <a:off x="4240307" y="1896035"/>
            <a:ext cx="2796988" cy="30659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ECBF6F9-1F5E-86DF-7EDF-BFF324E4A5CA}"/>
              </a:ext>
            </a:extLst>
          </p:cNvPr>
          <p:cNvSpPr/>
          <p:nvPr/>
        </p:nvSpPr>
        <p:spPr>
          <a:xfrm>
            <a:off x="6804214" y="1896035"/>
            <a:ext cx="2796988" cy="30659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3F59381-091A-63A7-7C32-9522946FCD3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589512" y="2863919"/>
            <a:ext cx="2768255" cy="113015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0506B81-0FB7-7B28-5468-6E5131D2AD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6495" y="2863919"/>
            <a:ext cx="2318875" cy="13043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B3272F3-F9FC-CF42-3802-82892C57E35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059134" y="2902731"/>
            <a:ext cx="2287148" cy="12655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9F64620-9646-EA2C-621A-216D586FE649}"/>
              </a:ext>
            </a:extLst>
          </p:cNvPr>
          <p:cNvSpPr txBox="1"/>
          <p:nvPr/>
        </p:nvSpPr>
        <p:spPr>
          <a:xfrm>
            <a:off x="2423592" y="2659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Planteamiento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del </a:t>
            </a:r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problema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1026" name="Picture 2" descr="Laboratorios Ecar S.A (@laboratorioecar) • Instagram photos and videos">
            <a:extLst>
              <a:ext uri="{FF2B5EF4-FFF2-40B4-BE49-F238E27FC236}">
                <a16:creationId xmlns:a16="http://schemas.microsoft.com/office/drawing/2014/main" id="{BF5902A3-8BEB-A7A9-61F6-579D62DC7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0062" y="2052638"/>
            <a:ext cx="1376362" cy="137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CAPS – Directorio Nacional de Empresas Exportadoras">
            <a:extLst>
              <a:ext uri="{FF2B5EF4-FFF2-40B4-BE49-F238E27FC236}">
                <a16:creationId xmlns:a16="http://schemas.microsoft.com/office/drawing/2014/main" id="{14BF3236-0EAD-C6CC-A98C-686EF6F3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6424" y="2026611"/>
            <a:ext cx="1428416" cy="14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ecnoquimicas">
            <a:extLst>
              <a:ext uri="{FF2B5EF4-FFF2-40B4-BE49-F238E27FC236}">
                <a16:creationId xmlns:a16="http://schemas.microsoft.com/office/drawing/2014/main" id="{B065D76C-0CB4-57F5-E31F-B8950C6A5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0796" y="3455027"/>
            <a:ext cx="2045593" cy="13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afrancol – DistriClínicas">
            <a:extLst>
              <a:ext uri="{FF2B5EF4-FFF2-40B4-BE49-F238E27FC236}">
                <a16:creationId xmlns:a16="http://schemas.microsoft.com/office/drawing/2014/main" id="{443FBB73-E9F1-51BF-80FF-67AA60718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2634" y="3402973"/>
            <a:ext cx="2143125" cy="139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5F7557-F6EC-ADB7-274D-F6586D085C2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/>
          <a:stretch>
            <a:fillRect/>
          </a:stretch>
        </p:blipFill>
        <p:spPr>
          <a:xfrm>
            <a:off x="7804320" y="922440"/>
            <a:ext cx="3814875" cy="43497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84678F-E002-90DB-E9C1-1A1983F69C4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5378743" y="2394164"/>
            <a:ext cx="2325041" cy="15500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61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1E3DBD-1757-E5D1-BE51-98E58E6B8425}"/>
              </a:ext>
            </a:extLst>
          </p:cNvPr>
          <p:cNvSpPr txBox="1"/>
          <p:nvPr/>
        </p:nvSpPr>
        <p:spPr>
          <a:xfrm>
            <a:off x="5029602" y="617015"/>
            <a:ext cx="2132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</a:t>
            </a:r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bjetivo </a:t>
            </a:r>
            <a:r>
              <a:rPr lang="es-ES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G</a:t>
            </a:r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eneral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E12FF1-49AF-F0C8-8C32-C73C163BBBC9}"/>
              </a:ext>
            </a:extLst>
          </p:cNvPr>
          <p:cNvSpPr txBox="1"/>
          <p:nvPr/>
        </p:nvSpPr>
        <p:spPr>
          <a:xfrm>
            <a:off x="2279470" y="1298763"/>
            <a:ext cx="7633058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s-MX" dirty="0"/>
              <a:t>Realizar un análisis integral del mercado farmacéutico colombiano mediante la consolidación y visualización de datos sobre fabricantes, formas farmacéuticas y precios, para apoyar decisiones basadas en información confiable y actualizada.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3DCC14-A120-B765-49D8-BFAE47450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3361" y="2534509"/>
            <a:ext cx="9145276" cy="31817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90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6C8BA1C-A14B-E269-0947-10153BBA4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764" y="1120190"/>
            <a:ext cx="5325218" cy="4505954"/>
          </a:xfrm>
          <a:prstGeom prst="rect">
            <a:avLst/>
          </a:prstGeom>
        </p:spPr>
      </p:pic>
      <p:pic>
        <p:nvPicPr>
          <p:cNvPr id="1030" name="Picture 6" descr="Imágenes de Objetivos Especificos - Descarga gratuita en Freepik">
            <a:extLst>
              <a:ext uri="{FF2B5EF4-FFF2-40B4-BE49-F238E27FC236}">
                <a16:creationId xmlns:a16="http://schemas.microsoft.com/office/drawing/2014/main" id="{ED1395ED-A7CB-8481-65A6-5A7C52A21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3816" y="447675"/>
            <a:ext cx="58483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4D7C0E9-426C-EC3F-80A4-11325DBC76A3}"/>
              </a:ext>
            </a:extLst>
          </p:cNvPr>
          <p:cNvSpPr txBox="1"/>
          <p:nvPr/>
        </p:nvSpPr>
        <p:spPr>
          <a:xfrm>
            <a:off x="6322746" y="2248007"/>
            <a:ext cx="47545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Identificar activos con mayor número de registros en el mercado.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Analizar la distribución de medicamentos según la vía de administración.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Clasificar las presentaciones farmacéuticas más comunes.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Facilitar la interpretación del comportamiento del mercado mediante gráficos interactivos y segmentación por variables clave.</a:t>
            </a:r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6512525" y="1019869"/>
            <a:ext cx="3148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Objetivo</a:t>
            </a:r>
            <a:r>
              <a:rPr lang="en-US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Especificos</a:t>
            </a:r>
            <a:endParaRPr lang="es-CO" dirty="0">
              <a:solidFill>
                <a:srgbClr val="A08EF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65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6D2E-C7DF-F734-DB0C-93EEA65B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2015C64-C7E8-714D-0C40-5E98F6214A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835B8C5-325F-517E-582E-6202A89F2F2D}"/>
              </a:ext>
            </a:extLst>
          </p:cNvPr>
          <p:cNvSpPr txBox="1"/>
          <p:nvPr/>
        </p:nvSpPr>
        <p:spPr>
          <a:xfrm>
            <a:off x="1136878" y="13338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J</a:t>
            </a:r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ustificación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BD3A2A-D13B-6470-6386-0539301F0160}"/>
              </a:ext>
            </a:extLst>
          </p:cNvPr>
          <p:cNvSpPr txBox="1"/>
          <p:nvPr/>
        </p:nvSpPr>
        <p:spPr>
          <a:xfrm>
            <a:off x="1316182" y="1703223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mercado farmacéutico colombiano presenta dispersión de datos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40A5F2-0EC0-2E32-3735-E6DD0ACFA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709" y="2850456"/>
            <a:ext cx="10738582" cy="2304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487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80B5-2D50-D588-FF85-222A15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F00DD1-178D-79C7-2D5A-88370873C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25AD2-7E66-AF76-EDDC-F3A503436B7A}"/>
              </a:ext>
            </a:extLst>
          </p:cNvPr>
          <p:cNvSpPr txBox="1"/>
          <p:nvPr/>
        </p:nvSpPr>
        <p:spPr>
          <a:xfrm>
            <a:off x="425678" y="108708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Alcance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B9644A-E116-B6E6-2718-2D287E645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3765" y="655280"/>
            <a:ext cx="9050013" cy="511563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185363C-805E-85F2-349C-A707B3801499}"/>
              </a:ext>
            </a:extLst>
          </p:cNvPr>
          <p:cNvSpPr txBox="1"/>
          <p:nvPr/>
        </p:nvSpPr>
        <p:spPr>
          <a:xfrm>
            <a:off x="425678" y="1511528"/>
            <a:ext cx="25461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dirty="0"/>
              <a:t>El análisis se enfoca en integrar tres fuentes oficiales de datos: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CUM</a:t>
            </a:r>
            <a:r>
              <a:rPr lang="es-CO" dirty="0"/>
              <a:t> (Código Único de Medicamentos Vigentes – INVIMA)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Precios reportados</a:t>
            </a:r>
            <a:r>
              <a:rPr lang="es-CO" dirty="0"/>
              <a:t> (SISMED – </a:t>
            </a:r>
            <a:r>
              <a:rPr lang="es-CO" dirty="0" err="1"/>
              <a:t>MinSalud</a:t>
            </a:r>
            <a:r>
              <a:rPr lang="es-CO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Precios máximos regulados</a:t>
            </a:r>
            <a:r>
              <a:rPr lang="es-CO" dirty="0"/>
              <a:t> (CNPMDM – </a:t>
            </a:r>
            <a:r>
              <a:rPr lang="es-CO" dirty="0" err="1"/>
              <a:t>MinSalud</a:t>
            </a:r>
            <a:r>
              <a:rPr lang="es-CO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359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C4EF-A4A0-3131-700D-7965270C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EA17F8-F3F4-B2AE-7386-DB54197F58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EF252C-A8DC-BFEC-56E3-730216CC02B6}"/>
              </a:ext>
            </a:extLst>
          </p:cNvPr>
          <p:cNvSpPr txBox="1"/>
          <p:nvPr/>
        </p:nvSpPr>
        <p:spPr>
          <a:xfrm>
            <a:off x="952014" y="1189958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Metodología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C9851F-3BDC-20D0-C46D-A57711457B42}"/>
              </a:ext>
            </a:extLst>
          </p:cNvPr>
          <p:cNvSpPr txBox="1"/>
          <p:nvPr/>
        </p:nvSpPr>
        <p:spPr>
          <a:xfrm>
            <a:off x="563234" y="1816662"/>
            <a:ext cx="23389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metodología se desarrolló en dos entornos: </a:t>
            </a:r>
            <a:r>
              <a:rPr lang="es-MX" b="1" dirty="0"/>
              <a:t>Google </a:t>
            </a:r>
            <a:r>
              <a:rPr lang="es-MX" b="1" dirty="0" err="1"/>
              <a:t>Colab</a:t>
            </a:r>
            <a:r>
              <a:rPr lang="es-MX" b="1" dirty="0"/>
              <a:t> (Python)</a:t>
            </a:r>
            <a:r>
              <a:rPr lang="es-MX" dirty="0"/>
              <a:t> para la depuración e </a:t>
            </a:r>
            <a:r>
              <a:rPr lang="es-MX" dirty="0" err="1"/>
              <a:t>integracón</a:t>
            </a:r>
            <a:r>
              <a:rPr lang="es-MX" dirty="0"/>
              <a:t> de datos, y </a:t>
            </a:r>
            <a:r>
              <a:rPr lang="es-MX" b="1" dirty="0" err="1"/>
              <a:t>Power</a:t>
            </a:r>
            <a:r>
              <a:rPr lang="es-MX" b="1" dirty="0"/>
              <a:t> BI</a:t>
            </a:r>
            <a:r>
              <a:rPr lang="es-MX" dirty="0"/>
              <a:t> para la visualización y análisis dinámico. Se compone de las siguientes etapas:</a:t>
            </a:r>
            <a:endParaRPr lang="es-CO" dirty="0"/>
          </a:p>
        </p:txBody>
      </p:sp>
      <p:pic>
        <p:nvPicPr>
          <p:cNvPr id="11" name="Imagen 10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14F3031D-A002-ABD6-DF51-7E25E6494FA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6290" y="852054"/>
            <a:ext cx="9162473" cy="51538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086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9266-94D4-E379-CC47-59C0B75C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B13922-F6E0-B8A9-3ADB-96175AA12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89C9C0-A9B9-E8DC-0C20-51067E8AB9C8}"/>
              </a:ext>
            </a:extLst>
          </p:cNvPr>
          <p:cNvSpPr txBox="1"/>
          <p:nvPr/>
        </p:nvSpPr>
        <p:spPr>
          <a:xfrm>
            <a:off x="4639005" y="802637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Modelado de los datos </a:t>
            </a:r>
          </a:p>
          <a:p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B9A92EF-5947-050E-0A7C-EC685CE8073B}"/>
              </a:ext>
            </a:extLst>
          </p:cNvPr>
          <p:cNvSpPr txBox="1"/>
          <p:nvPr/>
        </p:nvSpPr>
        <p:spPr>
          <a:xfrm>
            <a:off x="8355660" y="1573360"/>
            <a:ext cx="35810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/>
              <a:t>El modelo se basa en la integración de tres fuentes oficiales del mercado farmacéutico colombiano: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Medicamentos vigentes (CUM – INVIMA)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Precios reportados (SISMED – </a:t>
            </a:r>
            <a:r>
              <a:rPr lang="es-MX" dirty="0" err="1"/>
              <a:t>MinSalud</a:t>
            </a:r>
            <a:r>
              <a:rPr lang="es-MX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Precios máximos regulados (CNPMDM – </a:t>
            </a:r>
            <a:r>
              <a:rPr lang="es-MX" dirty="0" err="1"/>
              <a:t>MinSalud</a:t>
            </a:r>
            <a:r>
              <a:rPr lang="es-MX" dirty="0"/>
              <a:t>.</a:t>
            </a:r>
          </a:p>
          <a:p>
            <a:r>
              <a:rPr lang="es-MX" dirty="0"/>
              <a:t>Permite identificar variaciones de precios, cumplimiento normativo y comportamiento por laboratorio, forma farmacéutica y vía de administración.</a:t>
            </a:r>
          </a:p>
          <a:p>
            <a:pPr>
              <a:buNone/>
            </a:pP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77277E2-A556-1AD7-B2AC-8973C11E7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350" y="1448968"/>
            <a:ext cx="7433310" cy="20633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54D9501-0D15-6825-E4A6-A2029823E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2080" y="3512352"/>
            <a:ext cx="2785056" cy="23724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7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7D89-7859-4CC1-5469-B0BAE501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FBD23F1-19E4-5946-F330-6E254871B5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2721C7B-40AC-1156-A071-1A734573B238}"/>
              </a:ext>
            </a:extLst>
          </p:cNvPr>
          <p:cNvSpPr txBox="1"/>
          <p:nvPr/>
        </p:nvSpPr>
        <p:spPr>
          <a:xfrm>
            <a:off x="581066" y="133844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Resultados: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2D039C-78DE-E9E2-3003-939A11027F54}"/>
              </a:ext>
            </a:extLst>
          </p:cNvPr>
          <p:cNvSpPr txBox="1"/>
          <p:nvPr/>
        </p:nvSpPr>
        <p:spPr>
          <a:xfrm>
            <a:off x="581066" y="2676884"/>
            <a:ext cx="613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C</a:t>
            </a:r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onclusiones:</a:t>
            </a:r>
            <a:endParaRPr lang="es-CO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E9AA05-45F1-D032-B205-E01F0EB42C29}"/>
              </a:ext>
            </a:extLst>
          </p:cNvPr>
          <p:cNvSpPr txBox="1"/>
          <p:nvPr/>
        </p:nvSpPr>
        <p:spPr>
          <a:xfrm>
            <a:off x="581066" y="4846322"/>
            <a:ext cx="613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I</a:t>
            </a:r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mpactos:</a:t>
            </a:r>
            <a:endParaRPr lang="es-CO" dirty="0"/>
          </a:p>
        </p:txBody>
      </p:sp>
      <p:pic>
        <p:nvPicPr>
          <p:cNvPr id="4100" name="Picture 4" descr="Botar empaques y medicamentos inadecuadamente tiene graves ...">
            <a:extLst>
              <a:ext uri="{FF2B5EF4-FFF2-40B4-BE49-F238E27FC236}">
                <a16:creationId xmlns:a16="http://schemas.microsoft.com/office/drawing/2014/main" id="{C2D59A17-90BE-1089-29C6-DD546C74C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1738872"/>
            <a:ext cx="5514934" cy="367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2802C99A-97A6-F144-9723-4BE885762AC6}"/>
              </a:ext>
            </a:extLst>
          </p:cNvPr>
          <p:cNvSpPr txBox="1"/>
          <p:nvPr/>
        </p:nvSpPr>
        <p:spPr>
          <a:xfrm>
            <a:off x="1961631" y="1338442"/>
            <a:ext cx="6131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Se identificaron formas farmacéuticas predominantes como tableta recubierta, cápsula dura y solución inyectable.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Se logró integrar precios reportados y precios regulados por presentación comercial.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066219C-AAE5-9674-91DD-25B01D3DB366}"/>
              </a:ext>
            </a:extLst>
          </p:cNvPr>
          <p:cNvSpPr txBox="1"/>
          <p:nvPr/>
        </p:nvSpPr>
        <p:spPr>
          <a:xfrm>
            <a:off x="2329184" y="2676884"/>
            <a:ext cx="61318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La dispersión de datos del sector farmacéutico dificulta el monitoreo regulatorio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La herramienta desarrollada permite consolidar y visualizar información clave para detectar riesgos normativos y comparar precios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El uso de Power BI facilita la interpretación dinámica del mercado y fortalece la toma de decisiones estratégicas.</a:t>
            </a:r>
            <a:endParaRPr lang="es-C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BE651BC-0D3C-EC0E-D9B3-7CB632A3A3AE}"/>
              </a:ext>
            </a:extLst>
          </p:cNvPr>
          <p:cNvSpPr txBox="1"/>
          <p:nvPr/>
        </p:nvSpPr>
        <p:spPr>
          <a:xfrm>
            <a:off x="1781656" y="4861495"/>
            <a:ext cx="6131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Mayor transparencia en el gasto público, mejor planeación presupuestal en salud, y fortalecimiento del control fiscal en el sector farmacéutico.</a:t>
            </a:r>
            <a:endParaRPr lang="es-C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42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F8AC-5F4E-512C-D77A-22DC1039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9853951-8EF5-BEF4-C618-D839DE5DFB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80EC2C5-761B-9BD0-B61E-ED51FF2E9189}"/>
              </a:ext>
            </a:extLst>
          </p:cNvPr>
          <p:cNvSpPr txBox="1"/>
          <p:nvPr/>
        </p:nvSpPr>
        <p:spPr>
          <a:xfrm>
            <a:off x="4861304" y="76808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L</a:t>
            </a:r>
            <a:r>
              <a:rPr lang="es-ES" sz="1800" b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íneas </a:t>
            </a:r>
            <a:r>
              <a:rPr lang="es-ES" b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F</a:t>
            </a:r>
            <a:r>
              <a:rPr lang="es-ES" sz="1800" b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uturas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965BC8-9742-9281-D8F7-E30AF7D6DE8F}"/>
              </a:ext>
            </a:extLst>
          </p:cNvPr>
          <p:cNvSpPr txBox="1"/>
          <p:nvPr/>
        </p:nvSpPr>
        <p:spPr>
          <a:xfrm>
            <a:off x="815096" y="1288599"/>
            <a:ext cx="7940977" cy="480131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Automatizar la actualización periódica del tablero con nuevas versiones de las bases oficiales.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Incorporar análisis predictivo para anticipar riesgos regulatorios o variaciones de precios.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Expandir el modelo a otros sectores regulados como dispositivos médicos o cosméticos.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Análisis predictivo de precios para anticipar variaciones de precios y posibles riesgos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Georreferenciación de precios que muestran diferencias de precios por regiones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Impacto económico que regula el presupuesto de salud pública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Monitoreo de cumplimiento normativo para detectar laboratorios con historial de incumplimientos o precios fuera de la norma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Panel de control para entidades regulatorias, diseñar una versión del dashboard adaptada para uso interno de MinSalud, CNPMDM o INVIMA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Capacitación y documentación Técnica para elaborar manuales y guías con el fin de que otros analistas puedan replicar o adaptar el modelo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Generar alertas para entidades públicas sobre posibles inconsistencias o riesgos financieros.</a:t>
            </a:r>
            <a:endParaRPr lang="es-CO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435BBF9-57C3-5029-6161-745520F237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5995" y="2005676"/>
            <a:ext cx="2876866" cy="28466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00548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512</Words>
  <Application>Microsoft Office PowerPoint</Application>
  <PresentationFormat>Panorámica</PresentationFormat>
  <Paragraphs>54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Roboto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Johnatan Blandon Morales</cp:lastModifiedBy>
  <cp:revision>49</cp:revision>
  <dcterms:created xsi:type="dcterms:W3CDTF">2024-01-29T20:34:43Z</dcterms:created>
  <dcterms:modified xsi:type="dcterms:W3CDTF">2025-11-20T00:08:57Z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</Properties>
</file>